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hTNTX5De3Me30PXYyhjakiUy17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0"/>
        <p:cNvGrpSpPr/>
        <p:nvPr/>
      </p:nvGrpSpPr>
      <p:grpSpPr>
        <a:xfrm>
          <a:off x="0" y="0"/>
          <a:ext cx="0" cy="0"/>
          <a:chOff x="0" y="0"/>
          <a:chExt cx="0" cy="0"/>
        </a:xfrm>
      </p:grpSpPr>
      <p:sp>
        <p:nvSpPr>
          <p:cNvPr id="41" name="Google Shape;41;p24"/>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3200" b="1">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 name="Google Shape;42;p24"/>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43" name="Google Shape;43;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21"/>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rgbClr val="0070C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1" i="0" u="none" strike="noStrike" cap="none">
                <a:solidFill>
                  <a:srgbClr val="0070C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IN"/>
              <a:t>‹#›</a:t>
            </a:fld>
            <a:endParaRPr/>
          </a:p>
        </p:txBody>
      </p:sp>
      <p:sp>
        <p:nvSpPr>
          <p:cNvPr id="15" name="Google Shape;15;p21"/>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21"/>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21" descr="LOGO.gif"/>
          <p:cNvPicPr preferRelativeResize="0"/>
          <p:nvPr/>
        </p:nvPicPr>
        <p:blipFill rotWithShape="1">
          <a:blip r:embed="rId3">
            <a:alphaModFix/>
          </a:blip>
          <a:srcRect b="10713"/>
          <a:stretch/>
        </p:blipFill>
        <p:spPr>
          <a:xfrm>
            <a:off x="6553200" y="228600"/>
            <a:ext cx="2057400" cy="635000"/>
          </a:xfrm>
          <a:prstGeom prst="rect">
            <a:avLst/>
          </a:prstGeom>
          <a:noFill/>
          <a:ln>
            <a:noFill/>
          </a:ln>
        </p:spPr>
      </p:pic>
      <p:pic>
        <p:nvPicPr>
          <p:cNvPr id="18" name="Google Shape;18;p21" descr="LOGO.gif"/>
          <p:cNvPicPr preferRelativeResize="0"/>
          <p:nvPr/>
        </p:nvPicPr>
        <p:blipFill rotWithShape="1">
          <a:blip r:embed="rId3">
            <a:alphaModFix/>
          </a:blip>
          <a:srcRect b="10713"/>
          <a:stretch/>
        </p:blipFill>
        <p:spPr>
          <a:xfrm>
            <a:off x="6553200" y="228600"/>
            <a:ext cx="2057400" cy="635000"/>
          </a:xfrm>
          <a:prstGeom prst="rect">
            <a:avLst/>
          </a:prstGeom>
          <a:noFill/>
          <a:ln>
            <a:noFill/>
          </a:ln>
        </p:spPr>
      </p:pic>
      <p:grpSp>
        <p:nvGrpSpPr>
          <p:cNvPr id="19" name="Google Shape;19;p21"/>
          <p:cNvGrpSpPr/>
          <p:nvPr/>
        </p:nvGrpSpPr>
        <p:grpSpPr>
          <a:xfrm>
            <a:off x="6146800" y="0"/>
            <a:ext cx="2997200" cy="876300"/>
            <a:chOff x="6096000" y="3924300"/>
            <a:chExt cx="2997200" cy="876300"/>
          </a:xfrm>
        </p:grpSpPr>
        <p:sp>
          <p:nvSpPr>
            <p:cNvPr id="20" name="Google Shape;20;p21"/>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21" descr="LOGO.gif"/>
            <p:cNvPicPr preferRelativeResize="0"/>
            <p:nvPr/>
          </p:nvPicPr>
          <p:blipFill rotWithShape="1">
            <a:blip r:embed="rId3">
              <a:alphaModFix/>
            </a:blip>
            <a:srcRect b="10713"/>
            <a:stretch/>
          </p:blipFill>
          <p:spPr>
            <a:xfrm>
              <a:off x="6502400" y="4152900"/>
              <a:ext cx="2057400" cy="635000"/>
            </a:xfrm>
            <a:prstGeom prst="rect">
              <a:avLst/>
            </a:prstGeom>
            <a:noFill/>
            <a:ln>
              <a:noFill/>
            </a:ln>
          </p:spPr>
        </p:pic>
        <p:sp>
          <p:nvSpPr>
            <p:cNvPr id="22" name="Google Shape;22;p21"/>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3" name="Google Shape;23;p21" descr="logo.jpg"/>
          <p:cNvPicPr preferRelativeResize="0"/>
          <p:nvPr/>
        </p:nvPicPr>
        <p:blipFill rotWithShape="1">
          <a:blip r:embed="rId4">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1" r:id="rId1"/>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www.geeksforgeeks.org/" TargetMode="External"/><Relationship Id="rId2" Type="http://schemas.openxmlformats.org/officeDocument/2006/relationships/hyperlink" Target="https://www.google.com/" TargetMode="External"/><Relationship Id="rId1" Type="http://schemas.openxmlformats.org/officeDocument/2006/relationships/slideLayout" Target="../slideLayouts/slideLayout1.xml"/><Relationship Id="rId4" Type="http://schemas.openxmlformats.org/officeDocument/2006/relationships/hyperlink" Target="https://chat.openai.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8">
            <a:extLst>
              <a:ext uri="{FF2B5EF4-FFF2-40B4-BE49-F238E27FC236}">
                <a16:creationId xmlns:a16="http://schemas.microsoft.com/office/drawing/2014/main" id="{8C0E1EE3-7EAF-EC95-ED1A-4E6BF9A7CCB7}"/>
              </a:ext>
            </a:extLst>
          </p:cNvPr>
          <p:cNvSpPr>
            <a:spLocks noGrp="1"/>
          </p:cNvSpPr>
          <p:nvPr>
            <p:ph type="subTitle" idx="1"/>
          </p:nvPr>
        </p:nvSpPr>
        <p:spPr>
          <a:xfrm>
            <a:off x="495300" y="1066800"/>
            <a:ext cx="8153400" cy="4724400"/>
          </a:xfrm>
        </p:spPr>
        <p:txBody>
          <a:bodyPr/>
          <a:lstStyle/>
          <a:p>
            <a:r>
              <a:rPr lang="en-US" sz="2000" b="1" dirty="0">
                <a:solidFill>
                  <a:schemeClr val="tx1"/>
                </a:solidFill>
              </a:rPr>
              <a:t>Presentation on Backend Project</a:t>
            </a:r>
            <a:endParaRPr lang="en-IN" sz="2000" dirty="0">
              <a:solidFill>
                <a:schemeClr val="tx1"/>
              </a:solidFill>
            </a:endParaRPr>
          </a:p>
          <a:p>
            <a:r>
              <a:rPr lang="en-US" sz="2000" i="1" dirty="0">
                <a:solidFill>
                  <a:schemeClr val="tx1"/>
                </a:solidFill>
              </a:rPr>
              <a:t>Topic</a:t>
            </a:r>
            <a:endParaRPr lang="en-IN" sz="2000" i="1" dirty="0">
              <a:solidFill>
                <a:schemeClr val="tx1"/>
              </a:solidFill>
            </a:endParaRPr>
          </a:p>
          <a:p>
            <a:r>
              <a:rPr lang="en-US" sz="2000" i="1" dirty="0" err="1">
                <a:solidFill>
                  <a:schemeClr val="tx1"/>
                </a:solidFill>
              </a:rPr>
              <a:t>RentWheels</a:t>
            </a:r>
            <a:endParaRPr lang="en-IN" sz="2000" i="1" dirty="0">
              <a:solidFill>
                <a:schemeClr val="tx1"/>
              </a:solidFill>
            </a:endParaRPr>
          </a:p>
          <a:p>
            <a:r>
              <a:rPr lang="en-US" sz="2000" dirty="0">
                <a:solidFill>
                  <a:schemeClr val="tx1"/>
                </a:solidFill>
              </a:rPr>
              <a:t>by</a:t>
            </a:r>
            <a:endParaRPr lang="en-IN" sz="2000" dirty="0">
              <a:solidFill>
                <a:schemeClr val="tx1"/>
              </a:solidFill>
            </a:endParaRPr>
          </a:p>
          <a:p>
            <a:r>
              <a:rPr lang="en-US" sz="2000" dirty="0">
                <a:solidFill>
                  <a:schemeClr val="tx1"/>
                </a:solidFill>
              </a:rPr>
              <a:t>G-04</a:t>
            </a:r>
            <a:endParaRPr lang="en-IN" sz="2000" dirty="0">
              <a:solidFill>
                <a:schemeClr val="tx1"/>
              </a:solidFill>
            </a:endParaRPr>
          </a:p>
          <a:p>
            <a:r>
              <a:rPr lang="en-US" sz="2000" dirty="0">
                <a:solidFill>
                  <a:schemeClr val="tx1"/>
                </a:solidFill>
              </a:rPr>
              <a:t>Sushant Gupta 2310991061 </a:t>
            </a:r>
          </a:p>
          <a:p>
            <a:r>
              <a:rPr lang="en-US" sz="2000" dirty="0">
                <a:solidFill>
                  <a:schemeClr val="tx1"/>
                </a:solidFill>
              </a:rPr>
              <a:t>Toran 2310991070</a:t>
            </a:r>
            <a:endParaRPr lang="en-IN" sz="2000" dirty="0">
              <a:solidFill>
                <a:schemeClr val="tx1"/>
              </a:solidFill>
            </a:endParaRPr>
          </a:p>
          <a:p>
            <a:r>
              <a:rPr lang="en-US" sz="2000" dirty="0">
                <a:solidFill>
                  <a:schemeClr val="tx1"/>
                </a:solidFill>
              </a:rPr>
              <a:t>Shreeya 2310991132</a:t>
            </a:r>
            <a:endParaRPr lang="en-IN" sz="2000" dirty="0">
              <a:solidFill>
                <a:schemeClr val="tx1"/>
              </a:solidFill>
            </a:endParaRPr>
          </a:p>
          <a:p>
            <a:r>
              <a:rPr lang="en-US" sz="2000" dirty="0">
                <a:solidFill>
                  <a:schemeClr val="tx1"/>
                </a:solidFill>
              </a:rPr>
              <a:t>Vasav Sharma 2310991159</a:t>
            </a:r>
            <a:endParaRPr lang="en-IN" sz="2000" dirty="0">
              <a:solidFill>
                <a:schemeClr val="tx1"/>
              </a:solidFill>
            </a:endParaRPr>
          </a:p>
          <a:p>
            <a:r>
              <a:rPr lang="en-US" sz="2000" dirty="0">
                <a:solidFill>
                  <a:schemeClr val="tx1"/>
                </a:solidFill>
              </a:rPr>
              <a:t> </a:t>
            </a:r>
            <a:endParaRPr lang="en-IN" sz="2000" dirty="0">
              <a:solidFill>
                <a:schemeClr val="tx1"/>
              </a:solidFill>
            </a:endParaRPr>
          </a:p>
          <a:p>
            <a:r>
              <a:rPr lang="en-US" sz="2000" dirty="0">
                <a:solidFill>
                  <a:schemeClr val="tx1"/>
                </a:solidFill>
              </a:rPr>
              <a:t>Supervised by: </a:t>
            </a:r>
          </a:p>
          <a:p>
            <a:r>
              <a:rPr lang="en-US" sz="2000" dirty="0">
                <a:solidFill>
                  <a:schemeClr val="tx1"/>
                </a:solidFill>
              </a:rPr>
              <a:t>Rahul Sir</a:t>
            </a:r>
            <a:endParaRPr lang="en-IN" sz="2000" dirty="0">
              <a:solidFill>
                <a:schemeClr val="tx1"/>
              </a:solidFill>
            </a:endParaRPr>
          </a:p>
          <a:p>
            <a:r>
              <a:rPr lang="en-US" sz="2000" dirty="0">
                <a:solidFill>
                  <a:schemeClr val="tx1"/>
                </a:solidFill>
              </a:rPr>
              <a:t>Department of Computer Science and Engineering,</a:t>
            </a:r>
          </a:p>
          <a:p>
            <a:r>
              <a:rPr lang="en-US" sz="2000" dirty="0">
                <a:solidFill>
                  <a:schemeClr val="tx1"/>
                </a:solidFill>
              </a:rPr>
              <a:t> Chitkara University, Punjab</a:t>
            </a:r>
            <a:endParaRPr lang="en-IN" sz="2000" dirty="0">
              <a:solidFill>
                <a:schemeClr val="tx1"/>
              </a:solidFill>
            </a:endParaRPr>
          </a:p>
          <a:p>
            <a:endParaRPr lang="en-IN"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F3D0A3-2B0F-F4A4-CC90-F019EEEC4ABF}"/>
              </a:ext>
            </a:extLst>
          </p:cNvPr>
          <p:cNvSpPr>
            <a:spLocks noGrp="1"/>
          </p:cNvSpPr>
          <p:nvPr>
            <p:ph type="ctrTitle"/>
          </p:nvPr>
        </p:nvSpPr>
        <p:spPr/>
        <p:txBody>
          <a:bodyPr/>
          <a:lstStyle/>
          <a:p>
            <a:br>
              <a:rPr lang="en-US" dirty="0"/>
            </a:br>
            <a:r>
              <a:rPr lang="en-US" dirty="0">
                <a:solidFill>
                  <a:schemeClr val="bg1"/>
                </a:solidFill>
              </a:rPr>
              <a:t>Table of Contents</a:t>
            </a:r>
            <a:br>
              <a:rPr lang="en-IN" dirty="0">
                <a:solidFill>
                  <a:schemeClr val="bg1"/>
                </a:solidFill>
              </a:rPr>
            </a:br>
            <a:endParaRPr lang="en-IN" dirty="0">
              <a:solidFill>
                <a:schemeClr val="bg1"/>
              </a:solidFill>
            </a:endParaRPr>
          </a:p>
        </p:txBody>
      </p:sp>
      <p:sp>
        <p:nvSpPr>
          <p:cNvPr id="7" name="Subtitle 6">
            <a:extLst>
              <a:ext uri="{FF2B5EF4-FFF2-40B4-BE49-F238E27FC236}">
                <a16:creationId xmlns:a16="http://schemas.microsoft.com/office/drawing/2014/main" id="{381C0066-3E97-A955-E82D-7005452D52C6}"/>
              </a:ext>
            </a:extLst>
          </p:cNvPr>
          <p:cNvSpPr>
            <a:spLocks noGrp="1"/>
          </p:cNvSpPr>
          <p:nvPr>
            <p:ph type="subTitle" idx="1"/>
          </p:nvPr>
        </p:nvSpPr>
        <p:spPr/>
        <p:txBody>
          <a:bodyPr/>
          <a:lstStyle/>
          <a:p>
            <a:pPr marL="25400" lvl="0" indent="0" algn="l"/>
            <a:r>
              <a:rPr lang="en-US" dirty="0">
                <a:solidFill>
                  <a:schemeClr val="tx1"/>
                </a:solidFill>
              </a:rPr>
              <a:t>1. Problem Statement</a:t>
            </a:r>
            <a:endParaRPr lang="en-IN" dirty="0">
              <a:solidFill>
                <a:schemeClr val="tx1"/>
              </a:solidFill>
            </a:endParaRPr>
          </a:p>
          <a:p>
            <a:pPr marL="25400" lvl="0" indent="0" algn="l"/>
            <a:r>
              <a:rPr lang="en-US" dirty="0">
                <a:solidFill>
                  <a:schemeClr val="tx1"/>
                </a:solidFill>
              </a:rPr>
              <a:t>2. Objective / Purpose</a:t>
            </a:r>
            <a:endParaRPr lang="en-IN" dirty="0">
              <a:solidFill>
                <a:schemeClr val="tx1"/>
              </a:solidFill>
            </a:endParaRPr>
          </a:p>
          <a:p>
            <a:pPr marL="25400" lvl="0" indent="0" algn="l"/>
            <a:r>
              <a:rPr lang="en-IN" dirty="0">
                <a:solidFill>
                  <a:schemeClr val="tx1"/>
                </a:solidFill>
              </a:rPr>
              <a:t>3. </a:t>
            </a:r>
            <a:r>
              <a:rPr lang="en-US" dirty="0">
                <a:solidFill>
                  <a:schemeClr val="tx1"/>
                </a:solidFill>
              </a:rPr>
              <a:t>Main Topics / Sections </a:t>
            </a:r>
            <a:endParaRPr lang="en-IN" dirty="0">
              <a:solidFill>
                <a:schemeClr val="tx1"/>
              </a:solidFill>
            </a:endParaRPr>
          </a:p>
          <a:p>
            <a:pPr marL="25400" lvl="0" indent="0" algn="l"/>
            <a:r>
              <a:rPr lang="en-IN" dirty="0">
                <a:solidFill>
                  <a:schemeClr val="tx1"/>
                </a:solidFill>
              </a:rPr>
              <a:t>4. </a:t>
            </a:r>
            <a:r>
              <a:rPr lang="en-US" dirty="0">
                <a:solidFill>
                  <a:schemeClr val="tx1"/>
                </a:solidFill>
              </a:rPr>
              <a:t>Future Scope</a:t>
            </a:r>
          </a:p>
          <a:p>
            <a:pPr marL="25400" lvl="0" indent="0" algn="l"/>
            <a:r>
              <a:rPr lang="en-US" dirty="0">
                <a:solidFill>
                  <a:schemeClr val="tx1"/>
                </a:solidFill>
              </a:rPr>
              <a:t>5. Project Snippets</a:t>
            </a:r>
            <a:endParaRPr lang="en-IN" dirty="0">
              <a:solidFill>
                <a:schemeClr val="tx1"/>
              </a:solidFill>
            </a:endParaRPr>
          </a:p>
          <a:p>
            <a:pPr marL="25400" lvl="0" indent="0" algn="l"/>
            <a:r>
              <a:rPr lang="en-US" dirty="0">
                <a:solidFill>
                  <a:schemeClr val="tx1"/>
                </a:solidFill>
              </a:rPr>
              <a:t>6. Conclusion</a:t>
            </a:r>
            <a:endParaRPr lang="en-IN" dirty="0">
              <a:solidFill>
                <a:schemeClr val="tx1"/>
              </a:solidFill>
            </a:endParaRPr>
          </a:p>
          <a:p>
            <a:pPr marL="25400" lvl="0" indent="0" algn="l"/>
            <a:r>
              <a:rPr lang="en-US" dirty="0">
                <a:solidFill>
                  <a:schemeClr val="tx1"/>
                </a:solidFill>
              </a:rPr>
              <a:t>7. References</a:t>
            </a:r>
            <a:endParaRPr lang="en-IN"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83FFBE-0006-B4B5-E60F-15F69EC0D45D}"/>
              </a:ext>
            </a:extLst>
          </p:cNvPr>
          <p:cNvSpPr>
            <a:spLocks noGrp="1"/>
          </p:cNvSpPr>
          <p:nvPr>
            <p:ph type="ctrTitle"/>
          </p:nvPr>
        </p:nvSpPr>
        <p:spPr/>
        <p:txBody>
          <a:bodyPr/>
          <a:lstStyle/>
          <a:p>
            <a:r>
              <a:rPr lang="en-US" dirty="0">
                <a:solidFill>
                  <a:schemeClr val="bg1"/>
                </a:solidFill>
              </a:rPr>
              <a:t> </a:t>
            </a:r>
            <a:br>
              <a:rPr lang="en-US" dirty="0">
                <a:solidFill>
                  <a:schemeClr val="bg1"/>
                </a:solidFill>
              </a:rPr>
            </a:br>
            <a:r>
              <a:rPr lang="en-US" dirty="0">
                <a:solidFill>
                  <a:schemeClr val="bg1"/>
                </a:solidFill>
              </a:rPr>
              <a:t>Problem Statement</a:t>
            </a:r>
            <a:br>
              <a:rPr lang="en-IN" dirty="0">
                <a:solidFill>
                  <a:schemeClr val="bg1"/>
                </a:solidFill>
              </a:rPr>
            </a:br>
            <a:endParaRPr lang="en-IN" dirty="0">
              <a:solidFill>
                <a:schemeClr val="bg1"/>
              </a:solidFill>
            </a:endParaRPr>
          </a:p>
        </p:txBody>
      </p:sp>
      <p:sp>
        <p:nvSpPr>
          <p:cNvPr id="7" name="Subtitle 6">
            <a:extLst>
              <a:ext uri="{FF2B5EF4-FFF2-40B4-BE49-F238E27FC236}">
                <a16:creationId xmlns:a16="http://schemas.microsoft.com/office/drawing/2014/main" id="{83193B94-2149-EBAD-FCC9-2F870DF3985D}"/>
              </a:ext>
            </a:extLst>
          </p:cNvPr>
          <p:cNvSpPr>
            <a:spLocks noGrp="1"/>
          </p:cNvSpPr>
          <p:nvPr>
            <p:ph type="subTitle" idx="1"/>
          </p:nvPr>
        </p:nvSpPr>
        <p:spPr/>
        <p:txBody>
          <a:bodyPr/>
          <a:lstStyle/>
          <a:p>
            <a:pPr algn="just">
              <a:lnSpc>
                <a:spcPct val="150000"/>
              </a:lnSpc>
            </a:pPr>
            <a:r>
              <a:rPr lang="en-US" sz="1800" dirty="0">
                <a:solidFill>
                  <a:schemeClr val="tx1"/>
                </a:solidFill>
              </a:rPr>
              <a:t>        With the rising cost of vehicle ownership and the growing need for flexible mobility, many individuals prefer renting vehicles rather than buying them. However, existing rental systems are often outdated, involving lengthy paperwork, hidden charges, and limited accessibility. Customers face difficulties in finding available vehicles quickly, while service providers struggle with efficient fleet management, tracking, and secure transactions. To overcome these challenges, </a:t>
            </a:r>
            <a:r>
              <a:rPr lang="en-US" sz="1800" dirty="0" err="1">
                <a:solidFill>
                  <a:schemeClr val="tx1"/>
                </a:solidFill>
              </a:rPr>
              <a:t>RentWheels</a:t>
            </a:r>
            <a:r>
              <a:rPr lang="en-US" sz="1800" dirty="0">
                <a:solidFill>
                  <a:schemeClr val="tx1"/>
                </a:solidFill>
              </a:rPr>
              <a:t> is developed as a MERN-based web application that provides a seamless, transparent, and user-friendly platform for customers to search, book, and rent vehicles, while enabling service providers to manage their fleet effectively in real time.</a:t>
            </a:r>
            <a:endParaRPr lang="en-IN" sz="1800" dirty="0">
              <a:solidFill>
                <a:schemeClr val="tx1"/>
              </a:solidFill>
            </a:endParaRP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E3D592-6B88-31CB-3FDB-7817C76E01C9}"/>
              </a:ext>
            </a:extLst>
          </p:cNvPr>
          <p:cNvSpPr>
            <a:spLocks noGrp="1"/>
          </p:cNvSpPr>
          <p:nvPr>
            <p:ph type="ctrTitle"/>
          </p:nvPr>
        </p:nvSpPr>
        <p:spPr/>
        <p:txBody>
          <a:bodyPr/>
          <a:lstStyle/>
          <a:p>
            <a:br>
              <a:rPr lang="en-US" dirty="0">
                <a:solidFill>
                  <a:schemeClr val="bg1"/>
                </a:solidFill>
              </a:rPr>
            </a:br>
            <a:r>
              <a:rPr lang="en-US" dirty="0">
                <a:solidFill>
                  <a:schemeClr val="bg1"/>
                </a:solidFill>
              </a:rPr>
              <a:t>Objective / Purpose</a:t>
            </a:r>
            <a:br>
              <a:rPr lang="en-IN" dirty="0">
                <a:solidFill>
                  <a:schemeClr val="bg1"/>
                </a:solidFill>
              </a:rPr>
            </a:br>
            <a:endParaRPr lang="en-IN" dirty="0">
              <a:solidFill>
                <a:schemeClr val="bg1"/>
              </a:solidFill>
            </a:endParaRPr>
          </a:p>
        </p:txBody>
      </p:sp>
      <p:sp>
        <p:nvSpPr>
          <p:cNvPr id="7" name="Subtitle 6">
            <a:extLst>
              <a:ext uri="{FF2B5EF4-FFF2-40B4-BE49-F238E27FC236}">
                <a16:creationId xmlns:a16="http://schemas.microsoft.com/office/drawing/2014/main" id="{62B5C990-29CD-B456-6BE2-505D0B998177}"/>
              </a:ext>
            </a:extLst>
          </p:cNvPr>
          <p:cNvSpPr>
            <a:spLocks noGrp="1"/>
          </p:cNvSpPr>
          <p:nvPr>
            <p:ph type="subTitle" idx="1"/>
          </p:nvPr>
        </p:nvSpPr>
        <p:spPr/>
        <p:txBody>
          <a:bodyPr/>
          <a:lstStyle/>
          <a:p>
            <a:pPr algn="just">
              <a:lnSpc>
                <a:spcPct val="150000"/>
              </a:lnSpc>
            </a:pPr>
            <a:r>
              <a:rPr lang="en-US" sz="1800" dirty="0">
                <a:solidFill>
                  <a:schemeClr val="tx1"/>
                </a:solidFill>
              </a:rPr>
              <a:t>        The main objective of </a:t>
            </a:r>
            <a:r>
              <a:rPr lang="en-US" sz="1800" dirty="0" err="1">
                <a:solidFill>
                  <a:schemeClr val="tx1"/>
                </a:solidFill>
              </a:rPr>
              <a:t>RentWheels</a:t>
            </a:r>
            <a:r>
              <a:rPr lang="en-US" sz="1800" dirty="0">
                <a:solidFill>
                  <a:schemeClr val="tx1"/>
                </a:solidFill>
              </a:rPr>
              <a:t> is to create a modern, efficient, and user-friendly vehicle rental platform using the MERN stack that                                                     simplifies the process of renting vehicles for customers while providing powerful management tools for service providers. The system aims to offer real-time vehicle availability, transparent pricing, secure online transactions, and flexible booking options to enhance customer convenience. At the same time, it enables service providers to track their fleet, monitor bookings, manage records, and streamline operations effectively. The overall purpose of </a:t>
            </a:r>
            <a:r>
              <a:rPr lang="en-US" sz="1800" dirty="0" err="1">
                <a:solidFill>
                  <a:schemeClr val="tx1"/>
                </a:solidFill>
              </a:rPr>
              <a:t>RentWheels</a:t>
            </a:r>
            <a:r>
              <a:rPr lang="en-US" sz="1800" dirty="0">
                <a:solidFill>
                  <a:schemeClr val="tx1"/>
                </a:solidFill>
              </a:rPr>
              <a:t> is to bridge the gap between customers’ need for affordable and accessible mobility and providers’ need for efficient and secure fleet management through a smart digital solution..</a:t>
            </a:r>
            <a:endParaRPr lang="en-IN" sz="1800" dirty="0">
              <a:solidFill>
                <a:schemeClr val="tx1"/>
              </a:solidFill>
            </a:endParaRPr>
          </a:p>
          <a:p>
            <a:pPr algn="just">
              <a:lnSpc>
                <a:spcPct val="150000"/>
              </a:lnSpc>
            </a:pPr>
            <a:br>
              <a:rPr lang="en-US" sz="1800" dirty="0">
                <a:solidFill>
                  <a:schemeClr val="tx1"/>
                </a:solidFill>
              </a:rPr>
            </a:br>
            <a:endParaRPr lang="en-IN" sz="18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F7C538-2A07-99B8-B5E2-4B088DF5C3C0}"/>
              </a:ext>
            </a:extLst>
          </p:cNvPr>
          <p:cNvSpPr>
            <a:spLocks noGrp="1"/>
          </p:cNvSpPr>
          <p:nvPr>
            <p:ph type="ctrTitle"/>
          </p:nvPr>
        </p:nvSpPr>
        <p:spPr/>
        <p:txBody>
          <a:bodyPr/>
          <a:lstStyle/>
          <a:p>
            <a:br>
              <a:rPr lang="en-US" dirty="0">
                <a:solidFill>
                  <a:schemeClr val="bg1"/>
                </a:solidFill>
              </a:rPr>
            </a:br>
            <a:r>
              <a:rPr lang="en-US" dirty="0">
                <a:solidFill>
                  <a:schemeClr val="bg1"/>
                </a:solidFill>
              </a:rPr>
              <a:t>Main Topics / Sections</a:t>
            </a:r>
            <a:br>
              <a:rPr lang="en-IN" dirty="0">
                <a:solidFill>
                  <a:schemeClr val="bg1"/>
                </a:solidFill>
              </a:rPr>
            </a:br>
            <a:endParaRPr lang="en-IN" dirty="0">
              <a:solidFill>
                <a:schemeClr val="bg1"/>
              </a:solidFill>
            </a:endParaRPr>
          </a:p>
        </p:txBody>
      </p:sp>
      <p:sp>
        <p:nvSpPr>
          <p:cNvPr id="7" name="Subtitle 6">
            <a:extLst>
              <a:ext uri="{FF2B5EF4-FFF2-40B4-BE49-F238E27FC236}">
                <a16:creationId xmlns:a16="http://schemas.microsoft.com/office/drawing/2014/main" id="{8A0806B8-E211-00BB-0F55-3F2394BE25A4}"/>
              </a:ext>
            </a:extLst>
          </p:cNvPr>
          <p:cNvSpPr>
            <a:spLocks noGrp="1"/>
          </p:cNvSpPr>
          <p:nvPr>
            <p:ph type="subTitle" idx="1"/>
          </p:nvPr>
        </p:nvSpPr>
        <p:spPr/>
        <p:txBody>
          <a:bodyPr/>
          <a:lstStyle/>
          <a:p>
            <a:pPr algn="just"/>
            <a:r>
              <a:rPr lang="en-US" sz="1800" b="1" dirty="0">
                <a:solidFill>
                  <a:schemeClr val="tx1"/>
                </a:solidFill>
              </a:rPr>
              <a:t>1. User-Centric Design</a:t>
            </a:r>
          </a:p>
          <a:p>
            <a:pPr algn="just"/>
            <a:r>
              <a:rPr lang="en-US" sz="1800" b="1" dirty="0">
                <a:solidFill>
                  <a:schemeClr val="tx1"/>
                </a:solidFill>
              </a:rPr>
              <a:t>Responsive Interface:</a:t>
            </a:r>
            <a:r>
              <a:rPr lang="en-US" sz="1800" dirty="0">
                <a:solidFill>
                  <a:schemeClr val="tx1"/>
                </a:solidFill>
              </a:rPr>
              <a:t> Built with React to provide a smooth experience across all devices.</a:t>
            </a:r>
          </a:p>
          <a:p>
            <a:pPr algn="just"/>
            <a:r>
              <a:rPr lang="en-US" sz="1800" b="1" dirty="0">
                <a:solidFill>
                  <a:schemeClr val="tx1"/>
                </a:solidFill>
              </a:rPr>
              <a:t>Enhanced User Experience:</a:t>
            </a:r>
            <a:r>
              <a:rPr lang="en-US" sz="1800" dirty="0">
                <a:solidFill>
                  <a:schemeClr val="tx1"/>
                </a:solidFill>
              </a:rPr>
              <a:t> Intuitive layout, fast load times, and easy navigation for stress-free vehicle booking.</a:t>
            </a:r>
          </a:p>
          <a:p>
            <a:pPr algn="just"/>
            <a:r>
              <a:rPr lang="en-US" sz="1800" b="1" dirty="0">
                <a:solidFill>
                  <a:schemeClr val="tx1"/>
                </a:solidFill>
              </a:rPr>
              <a:t>2. Efficient Backend Architecture</a:t>
            </a:r>
          </a:p>
          <a:p>
            <a:pPr algn="just"/>
            <a:r>
              <a:rPr lang="en-US" sz="1800" b="1" dirty="0">
                <a:solidFill>
                  <a:schemeClr val="tx1"/>
                </a:solidFill>
              </a:rPr>
              <a:t>Scalable and Real-Time Operations:</a:t>
            </a:r>
            <a:r>
              <a:rPr lang="en-US" sz="1800" dirty="0">
                <a:solidFill>
                  <a:schemeClr val="tx1"/>
                </a:solidFill>
              </a:rPr>
              <a:t> Developed using Node.js and Express.js to handle real-time bookings, vehicle availability updates, and customer-provider interactions.</a:t>
            </a:r>
          </a:p>
          <a:p>
            <a:pPr algn="just"/>
            <a:r>
              <a:rPr lang="en-US" sz="1800" b="1" dirty="0">
                <a:solidFill>
                  <a:schemeClr val="tx1"/>
                </a:solidFill>
              </a:rPr>
              <a:t>Dynamic Data Management:</a:t>
            </a:r>
            <a:r>
              <a:rPr lang="en-US" sz="1800" dirty="0">
                <a:solidFill>
                  <a:schemeClr val="tx1"/>
                </a:solidFill>
              </a:rPr>
              <a:t> Enables efficient handling of user data, bookings, and transactions for a seamless experience.</a:t>
            </a:r>
          </a:p>
          <a:p>
            <a:pPr algn="just"/>
            <a:r>
              <a:rPr lang="en-US" sz="1800" b="1" dirty="0">
                <a:solidFill>
                  <a:schemeClr val="tx1"/>
                </a:solidFill>
              </a:rPr>
              <a:t>3. Secure and Scalable Database</a:t>
            </a:r>
          </a:p>
          <a:p>
            <a:pPr algn="just"/>
            <a:r>
              <a:rPr lang="en-US" sz="1800" b="1" dirty="0">
                <a:solidFill>
                  <a:schemeClr val="tx1"/>
                </a:solidFill>
              </a:rPr>
              <a:t>MongoDB Integration:</a:t>
            </a:r>
            <a:r>
              <a:rPr lang="en-US" sz="1800" dirty="0">
                <a:solidFill>
                  <a:schemeClr val="tx1"/>
                </a:solidFill>
              </a:rPr>
              <a:t> A robust and scalable database to store user profiles, vehicle details, bookings, and transaction records securely.</a:t>
            </a:r>
          </a:p>
          <a:p>
            <a:pPr algn="just"/>
            <a:endParaRPr lang="en-IN"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457C14-D73C-8003-DD95-4826330E4C8D}"/>
              </a:ext>
            </a:extLst>
          </p:cNvPr>
          <p:cNvSpPr>
            <a:spLocks noGrp="1"/>
          </p:cNvSpPr>
          <p:nvPr>
            <p:ph type="ctrTitle"/>
          </p:nvPr>
        </p:nvSpPr>
        <p:spPr/>
        <p:txBody>
          <a:bodyPr/>
          <a:lstStyle/>
          <a:p>
            <a:r>
              <a:rPr lang="en-US" dirty="0">
                <a:solidFill>
                  <a:schemeClr val="bg1"/>
                </a:solidFill>
              </a:rPr>
              <a:t>Main Topics / Sections</a:t>
            </a:r>
            <a:endParaRPr lang="en-IN" dirty="0"/>
          </a:p>
        </p:txBody>
      </p:sp>
      <p:sp>
        <p:nvSpPr>
          <p:cNvPr id="7" name="Subtitle 6">
            <a:extLst>
              <a:ext uri="{FF2B5EF4-FFF2-40B4-BE49-F238E27FC236}">
                <a16:creationId xmlns:a16="http://schemas.microsoft.com/office/drawing/2014/main" id="{BDD9F0E6-37C9-25C8-02CB-9461D7241E0C}"/>
              </a:ext>
            </a:extLst>
          </p:cNvPr>
          <p:cNvSpPr>
            <a:spLocks noGrp="1"/>
          </p:cNvSpPr>
          <p:nvPr>
            <p:ph type="subTitle" idx="1"/>
          </p:nvPr>
        </p:nvSpPr>
        <p:spPr/>
        <p:txBody>
          <a:bodyPr/>
          <a:lstStyle/>
          <a:p>
            <a:pPr algn="just"/>
            <a:r>
              <a:rPr lang="en-US" sz="1600" b="1" dirty="0">
                <a:solidFill>
                  <a:schemeClr val="tx1"/>
                </a:solidFill>
              </a:rPr>
              <a:t>4. Advanced Features Implementation</a:t>
            </a:r>
          </a:p>
          <a:p>
            <a:pPr algn="just"/>
            <a:r>
              <a:rPr lang="en-US" sz="1600" b="1" dirty="0">
                <a:solidFill>
                  <a:schemeClr val="tx1"/>
                </a:solidFill>
              </a:rPr>
              <a:t>Search and Filter:</a:t>
            </a:r>
            <a:r>
              <a:rPr lang="en-US" sz="1600" dirty="0">
                <a:solidFill>
                  <a:schemeClr val="tx1"/>
                </a:solidFill>
              </a:rPr>
              <a:t> Users can filter vehicles by type, price, location, or availability for easy selection.</a:t>
            </a:r>
          </a:p>
          <a:p>
            <a:pPr algn="just"/>
            <a:r>
              <a:rPr lang="en-US" sz="1600" b="1" dirty="0">
                <a:solidFill>
                  <a:schemeClr val="tx1"/>
                </a:solidFill>
              </a:rPr>
              <a:t>Booking and Payment System:</a:t>
            </a:r>
            <a:r>
              <a:rPr lang="en-US" sz="1600" dirty="0">
                <a:solidFill>
                  <a:schemeClr val="tx1"/>
                </a:solidFill>
              </a:rPr>
              <a:t> Secure online payments integrated with multiple gateways.</a:t>
            </a:r>
          </a:p>
          <a:p>
            <a:pPr algn="just"/>
            <a:r>
              <a:rPr lang="en-US" sz="1600" b="1" dirty="0">
                <a:solidFill>
                  <a:schemeClr val="tx1"/>
                </a:solidFill>
              </a:rPr>
              <a:t>Admin / Provider Dashboard:</a:t>
            </a:r>
            <a:r>
              <a:rPr lang="en-US" sz="1600" dirty="0">
                <a:solidFill>
                  <a:schemeClr val="tx1"/>
                </a:solidFill>
              </a:rPr>
              <a:t> Monitor vehicle status, booking history, payment records, and fleet management.</a:t>
            </a:r>
          </a:p>
          <a:p>
            <a:pPr algn="just"/>
            <a:r>
              <a:rPr lang="en-US" sz="1600" b="1" dirty="0">
                <a:solidFill>
                  <a:schemeClr val="tx1"/>
                </a:solidFill>
              </a:rPr>
              <a:t>5. Robust Testing and Deployment</a:t>
            </a:r>
          </a:p>
          <a:p>
            <a:pPr algn="just"/>
            <a:r>
              <a:rPr lang="en-US" sz="1600" b="1" dirty="0">
                <a:solidFill>
                  <a:schemeClr val="tx1"/>
                </a:solidFill>
              </a:rPr>
              <a:t>Comprehensive Testing:</a:t>
            </a:r>
            <a:r>
              <a:rPr lang="en-US" sz="1600" dirty="0">
                <a:solidFill>
                  <a:schemeClr val="tx1"/>
                </a:solidFill>
              </a:rPr>
              <a:t> Ensures scalability, security, and performance across multiple devices.</a:t>
            </a:r>
          </a:p>
          <a:p>
            <a:pPr algn="just"/>
            <a:r>
              <a:rPr lang="en-US" sz="1600" b="1" dirty="0">
                <a:solidFill>
                  <a:schemeClr val="tx1"/>
                </a:solidFill>
              </a:rPr>
              <a:t>Continuous Monitoring:</a:t>
            </a:r>
            <a:r>
              <a:rPr lang="en-US" sz="1600" dirty="0">
                <a:solidFill>
                  <a:schemeClr val="tx1"/>
                </a:solidFill>
              </a:rPr>
              <a:t> Iterative updates based on feedback to maintain smooth operations.</a:t>
            </a:r>
          </a:p>
          <a:p>
            <a:endParaRPr lang="en-IN" sz="160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742C5F-8FD9-DC0F-DF42-605CCE89D481}"/>
              </a:ext>
            </a:extLst>
          </p:cNvPr>
          <p:cNvSpPr>
            <a:spLocks noGrp="1"/>
          </p:cNvSpPr>
          <p:nvPr>
            <p:ph type="ctrTitle"/>
          </p:nvPr>
        </p:nvSpPr>
        <p:spPr/>
        <p:txBody>
          <a:bodyPr/>
          <a:lstStyle/>
          <a:p>
            <a:r>
              <a:rPr lang="en-US" dirty="0">
                <a:solidFill>
                  <a:schemeClr val="bg1"/>
                </a:solidFill>
              </a:rPr>
              <a:t>Future Scope</a:t>
            </a:r>
            <a:endParaRPr lang="en-IN" dirty="0">
              <a:solidFill>
                <a:schemeClr val="bg1"/>
              </a:solidFill>
            </a:endParaRPr>
          </a:p>
        </p:txBody>
      </p:sp>
      <p:sp>
        <p:nvSpPr>
          <p:cNvPr id="3" name="Subtitle 2">
            <a:extLst>
              <a:ext uri="{FF2B5EF4-FFF2-40B4-BE49-F238E27FC236}">
                <a16:creationId xmlns:a16="http://schemas.microsoft.com/office/drawing/2014/main" id="{DF883B96-43D5-B14E-7156-432D43E81CBF}"/>
              </a:ext>
            </a:extLst>
          </p:cNvPr>
          <p:cNvSpPr>
            <a:spLocks noGrp="1" noChangeArrowheads="1"/>
          </p:cNvSpPr>
          <p:nvPr>
            <p:ph type="subTitle" idx="1"/>
          </p:nvPr>
        </p:nvSpPr>
        <p:spPr bwMode="auto">
          <a:xfrm>
            <a:off x="172064" y="1282890"/>
            <a:ext cx="8706465"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Integration of </a:t>
            </a:r>
            <a:r>
              <a:rPr kumimoji="0" lang="en-US" altLang="en-US" sz="1800" b="1" i="0" u="none" strike="noStrike" cap="none" normalizeH="0" baseline="0" dirty="0">
                <a:ln>
                  <a:noFill/>
                </a:ln>
                <a:solidFill>
                  <a:schemeClr val="tx1"/>
                </a:solidFill>
                <a:effectLst/>
                <a:latin typeface="Arial" panose="020B0604020202020204" pitchFamily="34" charset="0"/>
              </a:rPr>
              <a:t>AI-based recommendations</a:t>
            </a:r>
            <a:r>
              <a:rPr kumimoji="0" lang="en-US" altLang="en-US" sz="1800" b="0" i="0" u="none" strike="noStrike" cap="none" normalizeH="0" baseline="0" dirty="0">
                <a:ln>
                  <a:noFill/>
                </a:ln>
                <a:solidFill>
                  <a:schemeClr val="tx1"/>
                </a:solidFill>
                <a:effectLst/>
                <a:latin typeface="Arial" panose="020B0604020202020204" pitchFamily="34" charset="0"/>
              </a:rPr>
              <a:t> for vehicle suggestions based on user preferences.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Adding a </a:t>
            </a:r>
            <a:r>
              <a:rPr kumimoji="0" lang="en-US" altLang="en-US" sz="1800" b="1" i="0" u="none" strike="noStrike" cap="none" normalizeH="0" baseline="0" dirty="0">
                <a:ln>
                  <a:noFill/>
                </a:ln>
                <a:solidFill>
                  <a:schemeClr val="tx1"/>
                </a:solidFill>
                <a:effectLst/>
                <a:latin typeface="Arial" panose="020B0604020202020204" pitchFamily="34" charset="0"/>
              </a:rPr>
              <a:t>mobile application</a:t>
            </a:r>
            <a:r>
              <a:rPr kumimoji="0" lang="en-US" altLang="en-US" sz="1800" b="0" i="0" u="none" strike="noStrike" cap="none" normalizeH="0" baseline="0" dirty="0">
                <a:ln>
                  <a:noFill/>
                </a:ln>
                <a:solidFill>
                  <a:schemeClr val="tx1"/>
                </a:solidFill>
                <a:effectLst/>
                <a:latin typeface="Arial" panose="020B0604020202020204" pitchFamily="34" charset="0"/>
              </a:rPr>
              <a:t> for Android and iOS users.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Implementation of </a:t>
            </a:r>
            <a:r>
              <a:rPr kumimoji="0" lang="en-US" altLang="en-US" sz="1800" b="1" i="0" u="none" strike="noStrike" cap="none" normalizeH="0" baseline="0" dirty="0">
                <a:ln>
                  <a:noFill/>
                </a:ln>
                <a:solidFill>
                  <a:schemeClr val="tx1"/>
                </a:solidFill>
                <a:effectLst/>
                <a:latin typeface="Arial" panose="020B0604020202020204" pitchFamily="34" charset="0"/>
              </a:rPr>
              <a:t>loyalty programs and discounts</a:t>
            </a:r>
            <a:r>
              <a:rPr kumimoji="0" lang="en-US" altLang="en-US" sz="1800" b="0" i="0" u="none" strike="noStrike" cap="none" normalizeH="0" baseline="0" dirty="0">
                <a:ln>
                  <a:noFill/>
                </a:ln>
                <a:solidFill>
                  <a:schemeClr val="tx1"/>
                </a:solidFill>
                <a:effectLst/>
                <a:latin typeface="Arial" panose="020B0604020202020204" pitchFamily="34" charset="0"/>
              </a:rPr>
              <a:t> for frequent customers.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Incorporation of </a:t>
            </a:r>
            <a:r>
              <a:rPr kumimoji="0" lang="en-US" altLang="en-US" sz="1800" b="1" i="0" u="none" strike="noStrike" cap="none" normalizeH="0" baseline="0" dirty="0">
                <a:ln>
                  <a:noFill/>
                </a:ln>
                <a:solidFill>
                  <a:schemeClr val="tx1"/>
                </a:solidFill>
                <a:effectLst/>
                <a:latin typeface="Arial" panose="020B0604020202020204" pitchFamily="34" charset="0"/>
              </a:rPr>
              <a:t>GPS tracking</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real-time traffic updates</a:t>
            </a:r>
            <a:r>
              <a:rPr kumimoji="0" lang="en-US" altLang="en-US" sz="1800" b="0" i="0" u="none" strike="noStrike" cap="none" normalizeH="0" baseline="0" dirty="0">
                <a:ln>
                  <a:noFill/>
                </a:ln>
                <a:solidFill>
                  <a:schemeClr val="tx1"/>
                </a:solidFill>
                <a:effectLst/>
                <a:latin typeface="Arial" panose="020B0604020202020204" pitchFamily="34" charset="0"/>
              </a:rPr>
              <a:t> for improved vehicle tracking.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Expansion to support </a:t>
            </a:r>
            <a:r>
              <a:rPr kumimoji="0" lang="en-US" altLang="en-US" sz="1800" b="1" i="0" u="none" strike="noStrike" cap="none" normalizeH="0" baseline="0" dirty="0">
                <a:ln>
                  <a:noFill/>
                </a:ln>
                <a:solidFill>
                  <a:schemeClr val="tx1"/>
                </a:solidFill>
                <a:effectLst/>
                <a:latin typeface="Arial" panose="020B0604020202020204" pitchFamily="34" charset="0"/>
              </a:rPr>
              <a:t>multi-city or country-wide rentals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85744B9-43DD-21F9-B9A0-2899CA12AD65}"/>
              </a:ext>
            </a:extLst>
          </p:cNvPr>
          <p:cNvSpPr>
            <a:spLocks noGrp="1"/>
          </p:cNvSpPr>
          <p:nvPr>
            <p:ph type="ctrTitle"/>
          </p:nvPr>
        </p:nvSpPr>
        <p:spPr/>
        <p:txBody>
          <a:bodyPr/>
          <a:lstStyle/>
          <a:p>
            <a:r>
              <a:rPr lang="en-US" dirty="0">
                <a:solidFill>
                  <a:schemeClr val="bg1"/>
                </a:solidFill>
              </a:rPr>
              <a:t>Project Snippets </a:t>
            </a:r>
            <a:endParaRPr lang="en-IN" dirty="0">
              <a:solidFill>
                <a:schemeClr val="bg1"/>
              </a:solidFill>
            </a:endParaRPr>
          </a:p>
        </p:txBody>
      </p:sp>
      <p:sp>
        <p:nvSpPr>
          <p:cNvPr id="7" name="Subtitle 6">
            <a:extLst>
              <a:ext uri="{FF2B5EF4-FFF2-40B4-BE49-F238E27FC236}">
                <a16:creationId xmlns:a16="http://schemas.microsoft.com/office/drawing/2014/main" id="{257690BC-BF8A-BF6A-A8D1-D859B307287C}"/>
              </a:ext>
            </a:extLst>
          </p:cNvPr>
          <p:cNvSpPr>
            <a:spLocks noGrp="1"/>
          </p:cNvSpPr>
          <p:nvPr>
            <p:ph type="subTitle" idx="1"/>
          </p:nvPr>
        </p:nvSpPr>
        <p:spPr>
          <a:xfrm>
            <a:off x="78658" y="914401"/>
            <a:ext cx="8608142" cy="5181599"/>
          </a:xfrm>
        </p:spPr>
        <p:txBody>
          <a:bodyPr/>
          <a:lstStyle/>
          <a:p>
            <a:endParaRPr lang="en-IN" dirty="0"/>
          </a:p>
        </p:txBody>
      </p:sp>
      <p:pic>
        <p:nvPicPr>
          <p:cNvPr id="3" name="Picture 2">
            <a:extLst>
              <a:ext uri="{FF2B5EF4-FFF2-40B4-BE49-F238E27FC236}">
                <a16:creationId xmlns:a16="http://schemas.microsoft.com/office/drawing/2014/main" id="{AA9541E7-A318-7237-DD28-2BD57D489ECC}"/>
              </a:ext>
            </a:extLst>
          </p:cNvPr>
          <p:cNvPicPr>
            <a:picLocks noChangeAspect="1"/>
          </p:cNvPicPr>
          <p:nvPr/>
        </p:nvPicPr>
        <p:blipFill>
          <a:blip r:embed="rId2"/>
          <a:stretch>
            <a:fillRect/>
          </a:stretch>
        </p:blipFill>
        <p:spPr>
          <a:xfrm>
            <a:off x="78658" y="1140541"/>
            <a:ext cx="4354056" cy="2064775"/>
          </a:xfrm>
          <a:prstGeom prst="rect">
            <a:avLst/>
          </a:prstGeom>
        </p:spPr>
      </p:pic>
      <p:pic>
        <p:nvPicPr>
          <p:cNvPr id="9" name="Picture 8">
            <a:extLst>
              <a:ext uri="{FF2B5EF4-FFF2-40B4-BE49-F238E27FC236}">
                <a16:creationId xmlns:a16="http://schemas.microsoft.com/office/drawing/2014/main" id="{B5C32A1E-94CE-1A2A-2860-0EA24429D6B9}"/>
              </a:ext>
            </a:extLst>
          </p:cNvPr>
          <p:cNvPicPr>
            <a:picLocks noChangeAspect="1"/>
          </p:cNvPicPr>
          <p:nvPr/>
        </p:nvPicPr>
        <p:blipFill>
          <a:blip r:embed="rId3"/>
          <a:stretch>
            <a:fillRect/>
          </a:stretch>
        </p:blipFill>
        <p:spPr>
          <a:xfrm>
            <a:off x="4722721" y="1140542"/>
            <a:ext cx="3811679" cy="2185760"/>
          </a:xfrm>
          <a:prstGeom prst="rect">
            <a:avLst/>
          </a:prstGeom>
        </p:spPr>
      </p:pic>
      <p:pic>
        <p:nvPicPr>
          <p:cNvPr id="11" name="Picture 10">
            <a:extLst>
              <a:ext uri="{FF2B5EF4-FFF2-40B4-BE49-F238E27FC236}">
                <a16:creationId xmlns:a16="http://schemas.microsoft.com/office/drawing/2014/main" id="{8EF4B9B6-8932-964E-8130-36232A2AB9E4}"/>
              </a:ext>
            </a:extLst>
          </p:cNvPr>
          <p:cNvPicPr>
            <a:picLocks noChangeAspect="1"/>
          </p:cNvPicPr>
          <p:nvPr/>
        </p:nvPicPr>
        <p:blipFill>
          <a:blip r:embed="rId4"/>
          <a:stretch>
            <a:fillRect/>
          </a:stretch>
        </p:blipFill>
        <p:spPr>
          <a:xfrm>
            <a:off x="1834593" y="3652685"/>
            <a:ext cx="4661292" cy="26474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664936-D11D-C93B-CF22-3E2A67A5A6B5}"/>
              </a:ext>
            </a:extLst>
          </p:cNvPr>
          <p:cNvSpPr>
            <a:spLocks noGrp="1"/>
          </p:cNvSpPr>
          <p:nvPr>
            <p:ph type="ctrTitle"/>
          </p:nvPr>
        </p:nvSpPr>
        <p:spPr/>
        <p:txBody>
          <a:bodyPr/>
          <a:lstStyle/>
          <a:p>
            <a:r>
              <a:rPr lang="en-US" dirty="0">
                <a:solidFill>
                  <a:schemeClr val="bg1"/>
                </a:solidFill>
              </a:rPr>
              <a:t>Project Snippets </a:t>
            </a:r>
            <a:endParaRPr lang="en-IN" dirty="0"/>
          </a:p>
        </p:txBody>
      </p:sp>
      <p:sp>
        <p:nvSpPr>
          <p:cNvPr id="7" name="Subtitle 6">
            <a:extLst>
              <a:ext uri="{FF2B5EF4-FFF2-40B4-BE49-F238E27FC236}">
                <a16:creationId xmlns:a16="http://schemas.microsoft.com/office/drawing/2014/main" id="{E1759407-DFC0-93DE-1CCC-9621CEB44382}"/>
              </a:ext>
            </a:extLst>
          </p:cNvPr>
          <p:cNvSpPr>
            <a:spLocks noGrp="1"/>
          </p:cNvSpPr>
          <p:nvPr>
            <p:ph type="subTitle" idx="1"/>
          </p:nvPr>
        </p:nvSpPr>
        <p:spPr>
          <a:xfrm>
            <a:off x="0" y="914401"/>
            <a:ext cx="8686800" cy="5181599"/>
          </a:xfrm>
        </p:spPr>
        <p:txBody>
          <a:bodyPr/>
          <a:lstStyle/>
          <a:p>
            <a:endParaRPr lang="en-IN" dirty="0"/>
          </a:p>
        </p:txBody>
      </p:sp>
      <p:pic>
        <p:nvPicPr>
          <p:cNvPr id="3" name="Picture 2">
            <a:extLst>
              <a:ext uri="{FF2B5EF4-FFF2-40B4-BE49-F238E27FC236}">
                <a16:creationId xmlns:a16="http://schemas.microsoft.com/office/drawing/2014/main" id="{845CDB7D-5FEB-63A0-238B-704F4AB05C7C}"/>
              </a:ext>
            </a:extLst>
          </p:cNvPr>
          <p:cNvPicPr>
            <a:picLocks noChangeAspect="1"/>
          </p:cNvPicPr>
          <p:nvPr/>
        </p:nvPicPr>
        <p:blipFill>
          <a:blip r:embed="rId2"/>
          <a:stretch>
            <a:fillRect/>
          </a:stretch>
        </p:blipFill>
        <p:spPr>
          <a:xfrm>
            <a:off x="612012" y="1828801"/>
            <a:ext cx="4036234" cy="2030730"/>
          </a:xfrm>
          <a:prstGeom prst="rect">
            <a:avLst/>
          </a:prstGeom>
        </p:spPr>
      </p:pic>
      <p:pic>
        <p:nvPicPr>
          <p:cNvPr id="6" name="Picture 5">
            <a:extLst>
              <a:ext uri="{FF2B5EF4-FFF2-40B4-BE49-F238E27FC236}">
                <a16:creationId xmlns:a16="http://schemas.microsoft.com/office/drawing/2014/main" id="{05853E68-DE15-2F19-34CB-E1629B9CDD84}"/>
              </a:ext>
            </a:extLst>
          </p:cNvPr>
          <p:cNvPicPr>
            <a:picLocks noChangeAspect="1"/>
          </p:cNvPicPr>
          <p:nvPr/>
        </p:nvPicPr>
        <p:blipFill>
          <a:blip r:embed="rId3"/>
          <a:stretch>
            <a:fillRect/>
          </a:stretch>
        </p:blipFill>
        <p:spPr>
          <a:xfrm>
            <a:off x="5260258" y="1023601"/>
            <a:ext cx="3499162" cy="3056785"/>
          </a:xfrm>
          <a:prstGeom prst="rect">
            <a:avLst/>
          </a:prstGeom>
        </p:spPr>
      </p:pic>
      <p:pic>
        <p:nvPicPr>
          <p:cNvPr id="9" name="Picture 8">
            <a:extLst>
              <a:ext uri="{FF2B5EF4-FFF2-40B4-BE49-F238E27FC236}">
                <a16:creationId xmlns:a16="http://schemas.microsoft.com/office/drawing/2014/main" id="{6238ED8C-3BDE-9F3F-4CE3-E27B78AE1F9E}"/>
              </a:ext>
            </a:extLst>
          </p:cNvPr>
          <p:cNvPicPr>
            <a:picLocks noChangeAspect="1"/>
          </p:cNvPicPr>
          <p:nvPr/>
        </p:nvPicPr>
        <p:blipFill>
          <a:blip r:embed="rId4"/>
          <a:stretch>
            <a:fillRect/>
          </a:stretch>
        </p:blipFill>
        <p:spPr>
          <a:xfrm>
            <a:off x="2491350" y="4452433"/>
            <a:ext cx="3704100" cy="21096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01C94E-B3DB-6B83-0A8E-900F8188B994}"/>
              </a:ext>
            </a:extLst>
          </p:cNvPr>
          <p:cNvSpPr>
            <a:spLocks noGrp="1"/>
          </p:cNvSpPr>
          <p:nvPr>
            <p:ph type="ctrTitle"/>
          </p:nvPr>
        </p:nvSpPr>
        <p:spPr/>
        <p:txBody>
          <a:bodyPr/>
          <a:lstStyle/>
          <a:p>
            <a:r>
              <a:rPr lang="en-US" dirty="0">
                <a:solidFill>
                  <a:schemeClr val="bg1"/>
                </a:solidFill>
              </a:rPr>
              <a:t>Conclusion</a:t>
            </a:r>
            <a:endParaRPr lang="en-IN" dirty="0">
              <a:solidFill>
                <a:schemeClr val="bg1"/>
              </a:solidFill>
            </a:endParaRPr>
          </a:p>
        </p:txBody>
      </p:sp>
      <p:sp>
        <p:nvSpPr>
          <p:cNvPr id="7" name="Subtitle 6">
            <a:extLst>
              <a:ext uri="{FF2B5EF4-FFF2-40B4-BE49-F238E27FC236}">
                <a16:creationId xmlns:a16="http://schemas.microsoft.com/office/drawing/2014/main" id="{DF4E40DC-3703-B50B-409A-6DBDE77B331B}"/>
              </a:ext>
            </a:extLst>
          </p:cNvPr>
          <p:cNvSpPr>
            <a:spLocks noGrp="1"/>
          </p:cNvSpPr>
          <p:nvPr>
            <p:ph type="subTitle" idx="1"/>
          </p:nvPr>
        </p:nvSpPr>
        <p:spPr>
          <a:xfrm>
            <a:off x="235974" y="914401"/>
            <a:ext cx="8450826" cy="5181599"/>
          </a:xfrm>
        </p:spPr>
        <p:txBody>
          <a:bodyPr/>
          <a:lstStyle/>
          <a:p>
            <a:pPr algn="just">
              <a:lnSpc>
                <a:spcPct val="150000"/>
              </a:lnSpc>
            </a:pPr>
            <a:r>
              <a:rPr lang="en-US" sz="1800" dirty="0">
                <a:solidFill>
                  <a:schemeClr val="tx1"/>
                </a:solidFill>
              </a:rPr>
              <a:t>        </a:t>
            </a:r>
            <a:r>
              <a:rPr lang="en-US" sz="1800" dirty="0" err="1">
                <a:solidFill>
                  <a:schemeClr val="tx1"/>
                </a:solidFill>
              </a:rPr>
              <a:t>RentWheels</a:t>
            </a:r>
            <a:r>
              <a:rPr lang="en-US" sz="1800" dirty="0">
                <a:solidFill>
                  <a:schemeClr val="tx1"/>
                </a:solidFill>
              </a:rPr>
              <a:t> provides a modern, seamless, and secure vehicle rental platform that effectively addresses the numerous limitations of traditional rental systems. By leveraging the power of the MERN stack, it integrates real-time operations, secure payment gateways, and robust fleet management to deliver a smooth and efficient experience for both customers and service providers. The platform not only allows users to search, book, and rent vehicles quickly and conveniently but also enables service providers to manage their fleets, track bookings, monitor vehicle availability, and maintain accurate records with ease. Furthermore, </a:t>
            </a:r>
            <a:r>
              <a:rPr lang="en-US" sz="1800" dirty="0" err="1">
                <a:solidFill>
                  <a:schemeClr val="tx1"/>
                </a:solidFill>
              </a:rPr>
              <a:t>RentWheels</a:t>
            </a:r>
            <a:r>
              <a:rPr lang="en-US" sz="1800" dirty="0">
                <a:solidFill>
                  <a:schemeClr val="tx1"/>
                </a:solidFill>
              </a:rPr>
              <a:t> emphasizes transparency, reliability, and scalability, ensuring that as user demand grows, the system remains responsive and secure. This project demonstrates how technology can revolutionize mobility solutions, enhance user satisfaction, reduce operational complexities, and create a smarter, more efficient approach to vehicle rentals in today’s fast-paced world.</a:t>
            </a:r>
          </a:p>
          <a:p>
            <a:pPr algn="just">
              <a:lnSpc>
                <a:spcPct val="150000"/>
              </a:lnSpc>
            </a:pPr>
            <a:endParaRPr lang="en-IN" sz="1800"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AC27F1C-A2CF-BE7C-8A73-019657103649}"/>
              </a:ext>
            </a:extLst>
          </p:cNvPr>
          <p:cNvSpPr>
            <a:spLocks noGrp="1"/>
          </p:cNvSpPr>
          <p:nvPr>
            <p:ph type="ctrTitle"/>
          </p:nvPr>
        </p:nvSpPr>
        <p:spPr/>
        <p:txBody>
          <a:bodyPr/>
          <a:lstStyle/>
          <a:p>
            <a:br>
              <a:rPr lang="en-US" dirty="0">
                <a:solidFill>
                  <a:schemeClr val="bg1"/>
                </a:solidFill>
              </a:rPr>
            </a:br>
            <a:r>
              <a:rPr lang="en-US" dirty="0">
                <a:solidFill>
                  <a:schemeClr val="bg1"/>
                </a:solidFill>
              </a:rPr>
              <a:t>References</a:t>
            </a:r>
            <a:br>
              <a:rPr lang="en-IN" dirty="0">
                <a:solidFill>
                  <a:schemeClr val="bg1"/>
                </a:solidFill>
              </a:rPr>
            </a:br>
            <a:endParaRPr lang="en-IN" dirty="0">
              <a:solidFill>
                <a:schemeClr val="bg1"/>
              </a:solidFill>
            </a:endParaRPr>
          </a:p>
        </p:txBody>
      </p:sp>
      <p:sp>
        <p:nvSpPr>
          <p:cNvPr id="2" name="Subtitle 1">
            <a:extLst>
              <a:ext uri="{FF2B5EF4-FFF2-40B4-BE49-F238E27FC236}">
                <a16:creationId xmlns:a16="http://schemas.microsoft.com/office/drawing/2014/main" id="{458E89B3-7AAD-9A72-AC32-C4B5C6C53D27}"/>
              </a:ext>
            </a:extLst>
          </p:cNvPr>
          <p:cNvSpPr>
            <a:spLocks noGrp="1" noChangeArrowheads="1"/>
          </p:cNvSpPr>
          <p:nvPr>
            <p:ph type="subTitle" idx="1"/>
          </p:nvPr>
        </p:nvSpPr>
        <p:spPr bwMode="auto">
          <a:xfrm>
            <a:off x="-68826" y="1226213"/>
            <a:ext cx="8888361"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algn="just"/>
            <a:r>
              <a:rPr lang="en-US" sz="1800" dirty="0">
                <a:solidFill>
                  <a:schemeClr val="tx1"/>
                </a:solidFill>
              </a:rPr>
              <a:t>Official Documentation: Documentation for libraries, frameworks, and tools used in the project, as well as APIs or services integrated.</a:t>
            </a:r>
            <a:endParaRPr lang="en-IN" sz="1800" dirty="0">
              <a:solidFill>
                <a:schemeClr val="tx1"/>
              </a:solidFill>
            </a:endParaRPr>
          </a:p>
          <a:p>
            <a:pPr lvl="1" algn="just"/>
            <a:r>
              <a:rPr lang="en-US" sz="1800" u="heavy" dirty="0">
                <a:solidFill>
                  <a:schemeClr val="tx1"/>
                </a:solidFill>
                <a:hlinkClick r:id="rId2">
                  <a:extLst>
                    <a:ext uri="{A12FA001-AC4F-418D-AE19-62706E023703}">
                      <ahyp:hlinkClr xmlns:ahyp="http://schemas.microsoft.com/office/drawing/2018/hyperlinkcolor" val="tx"/>
                    </a:ext>
                  </a:extLst>
                </a:hlinkClick>
              </a:rPr>
              <a:t>https://www.google.com/</a:t>
            </a:r>
            <a:endParaRPr lang="en-IN" sz="1800" dirty="0">
              <a:solidFill>
                <a:schemeClr val="tx1"/>
              </a:solidFill>
            </a:endParaRPr>
          </a:p>
          <a:p>
            <a:pPr lvl="1" algn="just"/>
            <a:r>
              <a:rPr lang="en-US" sz="1800" dirty="0">
                <a:solidFill>
                  <a:schemeClr val="tx1"/>
                </a:solidFill>
              </a:rPr>
              <a:t>Tutorials and Guides: Online tutorials, guides, blog posts, and educational videos that</a:t>
            </a:r>
            <a:endParaRPr lang="en-IN" sz="1800" dirty="0">
              <a:solidFill>
                <a:schemeClr val="tx1"/>
              </a:solidFill>
            </a:endParaRPr>
          </a:p>
          <a:p>
            <a:pPr algn="just"/>
            <a:r>
              <a:rPr lang="en-US" sz="1800" dirty="0">
                <a:solidFill>
                  <a:schemeClr val="tx1"/>
                </a:solidFill>
              </a:rPr>
              <a:t>            provided assistance or insights during development.</a:t>
            </a:r>
            <a:endParaRPr lang="en-IN" sz="1800" dirty="0">
              <a:solidFill>
                <a:schemeClr val="tx1"/>
              </a:solidFill>
            </a:endParaRPr>
          </a:p>
          <a:p>
            <a:pPr lvl="1" algn="just"/>
            <a:r>
              <a:rPr lang="en-US" sz="1800" dirty="0">
                <a:solidFill>
                  <a:schemeClr val="tx1"/>
                </a:solidFill>
              </a:rPr>
              <a:t>https:</a:t>
            </a:r>
            <a:r>
              <a:rPr lang="en-US" sz="1800" dirty="0">
                <a:solidFill>
                  <a:schemeClr val="tx1"/>
                </a:solidFill>
                <a:hlinkClick r:id="rId3">
                  <a:extLst>
                    <a:ext uri="{A12FA001-AC4F-418D-AE19-62706E023703}">
                      <ahyp:hlinkClr xmlns:ahyp="http://schemas.microsoft.com/office/drawing/2018/hyperlinkcolor" val="tx"/>
                    </a:ext>
                  </a:extLst>
                </a:hlinkClick>
              </a:rPr>
              <a:t>//www</a:t>
            </a:r>
            <a:r>
              <a:rPr lang="en-US" sz="1800" dirty="0">
                <a:solidFill>
                  <a:schemeClr val="tx1"/>
                </a:solidFill>
              </a:rPr>
              <a:t>.g</a:t>
            </a:r>
            <a:r>
              <a:rPr lang="en-US" sz="1800" dirty="0">
                <a:solidFill>
                  <a:schemeClr val="tx1"/>
                </a:solidFill>
                <a:hlinkClick r:id="rId3">
                  <a:extLst>
                    <a:ext uri="{A12FA001-AC4F-418D-AE19-62706E023703}">
                      <ahyp:hlinkClr xmlns:ahyp="http://schemas.microsoft.com/office/drawing/2018/hyperlinkcolor" val="tx"/>
                    </a:ext>
                  </a:extLst>
                </a:hlinkClick>
              </a:rPr>
              <a:t>eeksforgeeks.org/</a:t>
            </a:r>
            <a:endParaRPr lang="en-IN" sz="1800" dirty="0">
              <a:solidFill>
                <a:schemeClr val="tx1"/>
              </a:solidFill>
            </a:endParaRPr>
          </a:p>
          <a:p>
            <a:pPr lvl="1" algn="just"/>
            <a:r>
              <a:rPr lang="en-US" sz="1800" dirty="0">
                <a:solidFill>
                  <a:schemeClr val="tx1"/>
                </a:solidFill>
              </a:rPr>
              <a:t>Code Repositories: GitHub repositories or other code repositories where code snippets,</a:t>
            </a:r>
            <a:endParaRPr lang="en-IN" sz="1800" dirty="0">
              <a:solidFill>
                <a:schemeClr val="tx1"/>
              </a:solidFill>
            </a:endParaRPr>
          </a:p>
          <a:p>
            <a:pPr algn="just"/>
            <a:r>
              <a:rPr lang="en-US" sz="1800" dirty="0">
                <a:solidFill>
                  <a:schemeClr val="tx1"/>
                </a:solidFill>
              </a:rPr>
              <a:t>            examples, or inspiration were found.</a:t>
            </a:r>
            <a:endParaRPr lang="en-IN" sz="1800" dirty="0">
              <a:solidFill>
                <a:schemeClr val="tx1"/>
              </a:solidFill>
            </a:endParaRPr>
          </a:p>
          <a:p>
            <a:pPr lvl="1" algn="just"/>
            <a:r>
              <a:rPr lang="en-US" sz="1800" u="heavy" dirty="0">
                <a:solidFill>
                  <a:schemeClr val="tx1"/>
                </a:solidFill>
                <a:hlinkClick r:id="rId4">
                  <a:extLst>
                    <a:ext uri="{A12FA001-AC4F-418D-AE19-62706E023703}">
                      <ahyp:hlinkClr xmlns:ahyp="http://schemas.microsoft.com/office/drawing/2018/hyperlinkcolor" val="tx"/>
                    </a:ext>
                  </a:extLst>
                </a:hlinkClick>
              </a:rPr>
              <a:t>https://chat.openai.com/</a:t>
            </a:r>
            <a:endParaRPr lang="en-IN" sz="1800" dirty="0">
              <a:solidFill>
                <a:schemeClr val="tx1"/>
              </a:solidFill>
            </a:endParaRPr>
          </a:p>
          <a:p>
            <a:pPr lvl="1" algn="just"/>
            <a:r>
              <a:rPr lang="en-US" sz="1800" dirty="0">
                <a:solidFill>
                  <a:schemeClr val="tx1"/>
                </a:solidFill>
              </a:rPr>
              <a:t>Personal Communication: Mentors, peers who provided guidance, feedback, or support</a:t>
            </a:r>
            <a:endParaRPr lang="en-IN" sz="1800" dirty="0">
              <a:solidFill>
                <a:schemeClr val="tx1"/>
              </a:solidFill>
            </a:endParaRPr>
          </a:p>
          <a:p>
            <a:pPr algn="just"/>
            <a:r>
              <a:rPr lang="en-US" sz="1800" dirty="0">
                <a:solidFill>
                  <a:schemeClr val="tx1"/>
                </a:solidFill>
              </a:rPr>
              <a:t>             during development.</a:t>
            </a:r>
            <a:endParaRPr lang="en-IN" sz="1800" dirty="0">
              <a:solidFill>
                <a:schemeClr val="tx1"/>
              </a:solidFill>
            </a:endParaRPr>
          </a:p>
          <a:p>
            <a:pPr marL="0" marR="0" lvl="0" indent="0" algn="just" defTabSz="914400" rtl="0" eaLnBrk="0" fontAlgn="base" latinLnBrk="0" hangingPunct="0">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Bubble Sort">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637</TotalTime>
  <Words>878</Words>
  <Application>Microsoft Office PowerPoint</Application>
  <PresentationFormat>On-screen Show (4:3)</PresentationFormat>
  <Paragraphs>65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Bubble Sort</vt:lpstr>
      <vt:lpstr>PowerPoint Presentation</vt:lpstr>
      <vt:lpstr> Table of Contents </vt:lpstr>
      <vt:lpstr>  Problem Statement </vt:lpstr>
      <vt:lpstr> Objective / Purpose </vt:lpstr>
      <vt:lpstr> Main Topics / Sections </vt:lpstr>
      <vt:lpstr>Main Topics / Sections</vt:lpstr>
      <vt:lpstr>Future Scope</vt:lpstr>
      <vt:lpstr>Project Snippets </vt:lpstr>
      <vt:lpstr>Project Snippets </vt:lpstr>
      <vt:lpstr>Conclusion</vt:lpstr>
      <vt:lpstr> 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Arushi Gupta</dc:creator>
  <cp:lastModifiedBy>Rajiv Dogra</cp:lastModifiedBy>
  <cp:revision>22</cp:revision>
  <dcterms:modified xsi:type="dcterms:W3CDTF">2025-09-23T18:04:39Z</dcterms:modified>
</cp:coreProperties>
</file>